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точность при сдвиге</c:v>
                </c:pt>
              </c:strCache>
            </c:strRef>
          </c:tx>
          <c:spPr>
            <a:solidFill>
              <a:srgbClr val="0F1B2D"/>
            </a:solidFill>
            <a:ln w="31750" cap="flat">
              <a:solidFill>
                <a:srgbClr val="0F1B2D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1B2D"/>
              </a:solidFill>
              <a:ln w="9525" cap="flat">
                <a:solidFill>
                  <a:srgbClr val="0F1B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0.8365</c:v>
                </c:pt>
                <c:pt idx="1">
                  <c:v>0.8015</c:v>
                </c:pt>
                <c:pt idx="2">
                  <c:v>0.68325</c:v>
                </c:pt>
                <c:pt idx="3">
                  <c:v>0.52625</c:v>
                </c:pt>
                <c:pt idx="4">
                  <c:v>0.4075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F1B2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сдвиг, пикселей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точность на тесте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точность при повороте</c:v>
                </c:pt>
              </c:strCache>
            </c:strRef>
          </c:tx>
          <c:spPr>
            <a:solidFill>
              <a:srgbClr val="4C9BFF"/>
            </a:solidFill>
            <a:ln w="3175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0°</c:v>
                  </c:pt>
                  <c:pt idx="1">
                    <c:v>10°</c:v>
                  </c:pt>
                  <c:pt idx="2">
                    <c:v>20°</c:v>
                  </c:pt>
                  <c:pt idx="3">
                    <c:v>30°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0.8365</c:v>
                </c:pt>
                <c:pt idx="1">
                  <c:v>0.7455</c:v>
                </c:pt>
                <c:pt idx="2">
                  <c:v>0.41875</c:v>
                </c:pt>
                <c:pt idx="3">
                  <c:v>0.22025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F1B2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поворот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точность на тесте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без аугментации</c:v>
                </c:pt>
              </c:strCache>
            </c:strRef>
          </c:tx>
          <c:spPr>
            <a:solidFill>
              <a:srgbClr val="9AA0A8"/>
            </a:solidFill>
            <a:ln w="31750" cap="flat">
              <a:solidFill>
                <a:srgbClr val="9AA0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0A8"/>
              </a:solidFill>
              <a:ln w="9525" cap="flat">
                <a:solidFill>
                  <a:srgbClr val="9AA0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0.8365</c:v>
                </c:pt>
                <c:pt idx="1">
                  <c:v>0.8015</c:v>
                </c:pt>
                <c:pt idx="2">
                  <c:v>0.68325</c:v>
                </c:pt>
                <c:pt idx="3">
                  <c:v>0.52625</c:v>
                </c:pt>
                <c:pt idx="4">
                  <c:v>0.4075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легкая</c:v>
                </c:pt>
              </c:strCache>
            </c:strRef>
          </c:tx>
          <c:spPr>
            <a:solidFill>
              <a:srgbClr val="1F63C9"/>
            </a:solidFill>
            <a:ln w="31750" cap="flat">
              <a:solidFill>
                <a:srgbClr val="1F63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63C9"/>
              </a:solidFill>
              <a:ln w="9525" cap="flat">
                <a:solidFill>
                  <a:srgbClr val="1F63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0.85</c:v>
                </c:pt>
                <c:pt idx="1">
                  <c:v>0.8422499999999999</c:v>
                </c:pt>
                <c:pt idx="2">
                  <c:v>0.7945</c:v>
                </c:pt>
                <c:pt idx="3">
                  <c:v>0.6625000000000001</c:v>
                </c:pt>
                <c:pt idx="4">
                  <c:v>0.46775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сильная</c:v>
                </c:pt>
              </c:strCache>
            </c:strRef>
          </c:tx>
          <c:spPr>
            <a:solidFill>
              <a:srgbClr val="4C9BFF"/>
            </a:solidFill>
            <a:ln w="3175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0.8305</c:v>
                </c:pt>
                <c:pt idx="1">
                  <c:v>0.829</c:v>
                </c:pt>
                <c:pt idx="2">
                  <c:v>0.8135</c:v>
                </c:pt>
                <c:pt idx="3">
                  <c:v>0.76825</c:v>
                </c:pt>
                <c:pt idx="4">
                  <c:v>0.63625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сдвиг тестовых картинок, пикселей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3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точность на тесте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B2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без аугментации</c:v>
                </c:pt>
              </c:strCache>
            </c:strRef>
          </c:tx>
          <c:spPr>
            <a:solidFill>
              <a:srgbClr val="9AA0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0°</c:v>
                  </c:pt>
                  <c:pt idx="1">
                    <c:v>10°</c:v>
                  </c:pt>
                  <c:pt idx="2">
                    <c:v>20°</c:v>
                  </c:pt>
                  <c:pt idx="3">
                    <c:v>30°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0.8365</c:v>
                </c:pt>
                <c:pt idx="1">
                  <c:v>0.7455</c:v>
                </c:pt>
                <c:pt idx="2">
                  <c:v>0.41875</c:v>
                </c:pt>
                <c:pt idx="3">
                  <c:v>0.22025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легкая</c:v>
                </c:pt>
              </c:strCache>
            </c:strRef>
          </c:tx>
          <c:spPr>
            <a:solidFill>
              <a:srgbClr val="1F63C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0°</c:v>
                  </c:pt>
                  <c:pt idx="1">
                    <c:v>10°</c:v>
                  </c:pt>
                  <c:pt idx="2">
                    <c:v>20°</c:v>
                  </c:pt>
                  <c:pt idx="3">
                    <c:v>30°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0.85</c:v>
                </c:pt>
                <c:pt idx="1">
                  <c:v>0.7967500000000001</c:v>
                </c:pt>
                <c:pt idx="2">
                  <c:v>0.585</c:v>
                </c:pt>
                <c:pt idx="3">
                  <c:v>0.339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сильная</c:v>
                </c:pt>
              </c:strCache>
            </c:strRef>
          </c:tx>
          <c:spPr>
            <a:solidFill>
              <a:srgbClr val="4C9B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0°</c:v>
                  </c:pt>
                  <c:pt idx="1">
                    <c:v>10°</c:v>
                  </c:pt>
                  <c:pt idx="2">
                    <c:v>20°</c:v>
                  </c:pt>
                  <c:pt idx="3">
                    <c:v>30°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0.8305</c:v>
                </c:pt>
                <c:pt idx="1">
                  <c:v>0.8145</c:v>
                </c:pt>
                <c:pt idx="2">
                  <c:v>0.67225</c:v>
                </c:pt>
                <c:pt idx="3">
                  <c:v>0.33699999999999997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00" u="none">
                  <a:solidFill>
                    <a:srgbClr val="0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поворот тестовых картинок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точность на тесте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B2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легкая аугментация</c:v>
                </c:pt>
              </c:strCache>
            </c:strRef>
          </c:tx>
          <c:spPr>
            <a:solidFill>
              <a:srgbClr val="1F63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футболка</c:v>
                  </c:pt>
                  <c:pt idx="1">
                    <c:v>брюки</c:v>
                  </c:pt>
                  <c:pt idx="2">
                    <c:v>пуловер</c:v>
                  </c:pt>
                  <c:pt idx="3">
                    <c:v>платье</c:v>
                  </c:pt>
                  <c:pt idx="4">
                    <c:v>пальто</c:v>
                  </c:pt>
                  <c:pt idx="5">
                    <c:v>сандалия</c:v>
                  </c:pt>
                  <c:pt idx="6">
                    <c:v>рубашка</c:v>
                  </c:pt>
                  <c:pt idx="7">
                    <c:v>кроссовка</c:v>
                  </c:pt>
                  <c:pt idx="8">
                    <c:v>сумка</c:v>
                  </c:pt>
                  <c:pt idx="9">
                    <c:v>ботинок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0.81</c:v>
                </c:pt>
                <c:pt idx="1">
                  <c:v>0.9605911330049262</c:v>
                </c:pt>
                <c:pt idx="2">
                  <c:v>0.7242990654205608</c:v>
                </c:pt>
                <c:pt idx="3">
                  <c:v>0.8842105263157894</c:v>
                </c:pt>
                <c:pt idx="4">
                  <c:v>0.863013698630137</c:v>
                </c:pt>
                <c:pt idx="5">
                  <c:v>0.9230769230769231</c:v>
                </c:pt>
                <c:pt idx="6">
                  <c:v>0.5685279187817259</c:v>
                </c:pt>
                <c:pt idx="7">
                  <c:v>0.915</c:v>
                </c:pt>
                <c:pt idx="8">
                  <c:v>0.9226804123711341</c:v>
                </c:pt>
                <c:pt idx="9">
                  <c:v>0.9414893617021277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легкая + вверх ногами</c:v>
                </c:pt>
              </c:strCache>
            </c:strRef>
          </c:tx>
          <c:spPr>
            <a:solidFill>
              <a:srgbClr val="C9CD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футболка</c:v>
                  </c:pt>
                  <c:pt idx="1">
                    <c:v>брюки</c:v>
                  </c:pt>
                  <c:pt idx="2">
                    <c:v>пуловер</c:v>
                  </c:pt>
                  <c:pt idx="3">
                    <c:v>платье</c:v>
                  </c:pt>
                  <c:pt idx="4">
                    <c:v>пальто</c:v>
                  </c:pt>
                  <c:pt idx="5">
                    <c:v>сандалия</c:v>
                  </c:pt>
                  <c:pt idx="6">
                    <c:v>рубашка</c:v>
                  </c:pt>
                  <c:pt idx="7">
                    <c:v>кроссовка</c:v>
                  </c:pt>
                  <c:pt idx="8">
                    <c:v>сумка</c:v>
                  </c:pt>
                  <c:pt idx="9">
                    <c:v>ботинок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0.805</c:v>
                </c:pt>
                <c:pt idx="1">
                  <c:v>0.9605911330049262</c:v>
                </c:pt>
                <c:pt idx="2">
                  <c:v>0.8644859813084113</c:v>
                </c:pt>
                <c:pt idx="3">
                  <c:v>0.8631578947368421</c:v>
                </c:pt>
                <c:pt idx="4">
                  <c:v>0.6118721461187214</c:v>
                </c:pt>
                <c:pt idx="5">
                  <c:v>0.882051282051282</c:v>
                </c:pt>
                <c:pt idx="6">
                  <c:v>0.4467005076142132</c:v>
                </c:pt>
                <c:pt idx="7">
                  <c:v>0.905</c:v>
                </c:pt>
                <c:pt idx="8">
                  <c:v>0.8865979381443299</c:v>
                </c:pt>
                <c:pt idx="9">
                  <c:v>0.9202127659574468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точность по классу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B2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Третье занятие о том, как сделать, чтобы сеть хорошо работала на новых данных. В Б2.3 мы мешали сети зубрить штрафами и прореживанием, но точность на 1000 картинках упиралась в потолок. Гудфеллоу называет лучшим способом улучшить обобщение больше данных. Сегодня научимся получать новые данные из старых: справа одна картинка ботинка и восемь ее вариантов – сдвинутых, отраженных, повернутых, частично стертых. Метка у всех одна и та же. К концу занятия каждый должен уметь сам написать сдвиг, отражение, поворот с билинейной интерполяцией и случайное стирание, объяснить, какие преобразования допустимы для задачи, и собрать конвейер аугментации на лету.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Прочитайте вопрос. Слева одна и та же рубашка: исходная, сдвинутая на 3 пикселя вправо и повернутая на 20°. Цифры – точность сети на всей тестовой выборке, к которой применили такое же изменение: 0.84, 0.53 и 0.42. Дайте минуту на версии. Обычно говорят: «свертка же не зависит от положения». Подхватите: зависит или нет, разберемся на следующем слайде. Спросите: «Встречались ли такие сдвиги и повороты в обучающих картинках?» (нет: в FashionMNIST каждая вещь вырезана, отцентрована и выровнена вручную). Вывод: сеть хорошо знает только то, что видела. Если хотим устойчивости, надо показать ей сдвинутые и повернутые картинки.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Сначала определение и честный ответ на вопрос, что сверточная сеть умеет сама, а чему ее надо учить примерами.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Разметка дорогая: каждую картинку должен подписать человек. Но для классификации новые примеры можно сделать из старых. Если преобразование T не меняет правильный ответ, то пара (T(x), y) – еще один правильный пример. Сдвинутая рубашка остается рубашкой, затемненная тоже. Добавляя такие примеры, мы сообщаем сети, что от этих изменений ответ зависеть не должен. Термины: по-английски data augmentation, в русском переводе Гудфеллоу – пополнение набора данных (раздел 7.4), в разговоре чаще говорят «аугментация». Подчеркните, что это регуляризация в смысле Б2.3: ошибка на обучающей выборке растет (картинки стали разнообразнее), а ошибка на новых данных падает.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таблице. Свертка эквивариантна к сдвигу: если сдвинуть вход, карта признаков сдвинется так же (Б1.3). Пулинг 2 × 2 сглаживает сдвиг примерно на один пиксель. Но в конце сети стоит полносвязный слой, а он привязан к положению: после двух пулингов карта признаков 7 × 7, и сдвиг картинки на 4 пикселя переносит признаки в соседнюю клетку карты. Для полносвязного слоя это совсем другой вход. К повороту, масштабу, яркости и контрасту свертка не дает никакой устойчивости: фильтры не поворачиваются вместе с картинкой. Гудфеллоу пишет, что сдвиг обучающих картинок на несколько пикселей заметно улучшает обобщение даже у сверточных сетей. Спросите: «Почему это не так страшно для фотографий из интернета и страшно для камеры беспилотника?» (на фотографиях люди сами наводят камеру на объект, а камера автомобиля видит объекты в любой части кадра и под разными углами).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Опыт из задания А1–А2. Сеть WideCNN, 1000 обучающих картинок, 100 эпох, без аугментации. Слева точность на тестовой выборке, сдвинутой на 0–4 пикселя (среднее по сдвигу вправо и вниз): 0.84, 0.80, 0.68, 0.53, 0.41. Справа – повернутой на 0–30° (среднее по повороту в обе стороны): 0.84, 0.75, 0.42, 0.22. Сдвиг на один пиксель сеть почти не замечает, это работа пулинга. Сдвиг на 3 пикселя, то есть на десятую часть картинки, отнимает больше трети точности, а поворот на 20° отнимает половину. Подчеркните: это не плохая сеть, это сеть, которая никогда не видела таких картинок.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Пишем преобразования сами: сначала сдвиг и отражение срезами, потом поворот через сетку координат и интерполяцию.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Нарисуйте на доске таблицу 3 × 3 с числами от 1 до 9. Сдвиг на dx = 1 вправо: каждый пиксель переезжает на столбец правее, правый столбец выпадает, а левый остается пустым и заполняется нулем: (0, 1, 2), (0, 4, 5), (0, 7, 8). Формула y[i, j] = x[i − dy, j − dx]. Сдвиг вверх на dy = −1: строки (4, 5, 6), (7, 8, 9), (0, 0, 0). Отражение – разворот каждой строки: (3, 2, 1). На тензорах сдвиг делается копированием среза в срез, без циклов по пикселям. Спросите: «Почему не использовать torch.roll, который переносит выпавший столбец на другой край?» (фон FashionMNIST черный, ноль – естественное продолжение; перенос приклеил бы кусок вещи к противоположной стороне). Слева внизу настоящие картинки: исходные, сдвинутые на 3 пикселя, отраженные и повернутые. Проверка – задание А1: функции должны совпасть с TF.affine и TF.hflip.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Поворот сложнее: пиксели попадают между узлами сетки. Поэтому поворот считают в обратную сторону: для каждого пикселя результата находят точку исходной картинки, из которой он пришел. Координаты отсчитывают от центра картинки, у 28 × 28 это точка (13.5, 13.5): x = j − 13.5, y = i − 13.5, ось y направлена вниз. Для поворота на θ против часовой стрелки источник: x_ист = x·cos θ − y·sin θ, y_ист = x·sin θ + y·cos θ. Пример на картинке 3 × 3: θ = 90°, пиксель результата слева от центра, (x, y) = (−1, 0), берет значение из точки (0, −1), то есть сверху от центра. Верх ушел влево – это и есть поворот против часовой стрелки. Спросите: «Почему не переносить каждый исходный пиксель вперед?» (при округлении одни пиксели результата получат по два значения, другие ни одного – на картинке будут дыры). Знак угла такой же, как в torchvision: положительный угол поворачивает против часовой стрелки.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Точка-источник почти всегда лежит между четырьмя пикселями. Билинейная интерполяция берет их значения с весами, которые тем больше, чем ближе пиксель: (1 − fx)(1 − fy), fx(1 − fy), (1 − fx)fy, fx·fy, где fx и fy – расстояния от левого верхнего пикселя. Данные: p₀₀ = 0, p₀₁ = 1, p₁₀ = 0.5, p₁₁ = 1, fx = 0.25, fy = 0.5. Веса 0.375, 0.125, 0.375, 0.125, в сумме 1. Значение 0.375·0 + 0.125·1 + 0.375·0.5 + 0.125·1 = 0.4375. Если сосед лежит за краем картинки, его значение 0. Объясните следствие: при повороте на 17° почти каждое значение смешано из нескольких пикселей, и картинка слегка размывается, а при 90° источник попадает точно в центр пикселя, и картинка остается резкой.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PyTorch выборку по сетке делает F.grid_sample. Ей передают сетку формы (N, H, W, 2): для каждого пикселя результата – координаты точки-источника в нормированном виде, от −1 у левого края картинки до +1 у правого. При align_corners=False нормированная координата равна x_ист / (W/2). Пример: самый левый пиксель картинки шириной 28 имеет x = −13.5 и нормированную координату −13.5/14 ≈ −0.964, а не −1: −1 – это край пикселя, а не его центр. Удобство: у каждой картинки пакета свой угол, а поворачивается весь пакет одним вызовом. Наш поворот совпадает с TF.rotate при билинейной интерполяции до округлений, потому что torchvision строит точно такую же сетку. Задание А2 – одно из двух главных.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Преобразования не координат, а значений пикселей, и случайное закрытие части картинки.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Яркость: каждое значение умножается на f и обрезается в диапазон от 0 до 1. Пиксель 0.6 при f = 1.5 становится 0.9, при f = 2 упирается в 1. Черный фон остается черным. Контраст: значения стягиваются к среднему m этой картинки, y = c·x + (1 − c)·m. При c = 0.5 и m = 0.2 пиксель 0.6 становится 0.4, а черный фон светлеет до 0.1. Это ровно формулы TF.adjust_brightness и TF.adjust_contrast. Шум – тоже аугментация (Гудфеллоу, раздел 7.5). Для цветных картинок добавляют насыщенность и цветовой тон (ColorJitter); Крижевский и соавторы в AlexNet (2012) сдвигали цвета вдоль главных компонент. Спросите: «Нужна ли яркость для FashionMNIST?» (почти нет: все снято в одинаковых условиях; для камеры на улице нужна: солнце, сумерки, фары встречных машин). Проверка – задание А3.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Случайное стирание (Чжун и соавторы, 2017; очень похожий метод cutout – Деврис и Тейлор, 2017) закрашивает прямоугольник случайного размера и положения. Площадь – случайная доля s от площади картинки, отношение сторон r тоже случайно, h = √(s·HW·r), w = √(s·HW/r). Пример: s = 0.1, r = 1: 0.1·784 = 78.4, h = w = 9. При r = 2 прямоугольник вытянут: 13 × 6. Зачем: в реальности вещь бывает частично закрыта другим предметом, а сеть, которая опирается только на один участок (например, на воротник), такую картинку не узнает. Связь с Б2.3: стирание похоже на прореживание, только выключаются не случайные нейроны, а соседние пиксели входа. В torchvision это RandomErasing.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правило: преобразование допустимо, только если оно не меняет правильный ответ. Пройдите по карточкам. Цифры и буквы: Гудфеллоу (раздел 7.4) прямо пишет, что отражение и поворот на 180° недопустимы – «b» станет «d», «6» станет «9». Дорожные знаки: отражение превращает «поворот налево» в «поворот направо»; использовать его можно, только если поменять и метку. Светофор: класс задан цветом, поэтому цветовой тон менять нельзя. FashionMNIST: горизонтальное отражение допустимо, одежда почти симметрична; вверх ногами вещь остается той же, но таких картинок в настоящих данных нет. Важна и сила: поворот на 10° похож на правду, на 90° уже нет. Медицинские снимки: поворот часто допустим, а сдвиг цвета ткани – осторожно, цвет может быть признаком болезни. Спросите про задачи из проекта класса: какие преобразования допустимы для лидарных облаков точек или кадров камеры автомобиля?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Как встроить преобразования в обучение и что показал опыт.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Конвейер: каждый обучающий мини-пакет проходит через сдвиг, отражение, поворот и стирание, причем у каждой картинки свои случайные параметры. Ниже восемь вариантов одной картинки из обучающей выборки. Три правила. Первое: на лету – за 100 эпох сеть увидит 100 разных вариантов каждой картинки, а заранее размноженный набор дал бы конечное число копий и занял бы память. Второе: только для обучающей выборки – валидационная и тестовая должны изображать настоящие данные, по ним выбирают модель и оценивают качество. Третье: при сравнении моделей схема аугментации должна быть одинаковой, иначе неясно, что дало выигрыш, архитектура или аугментация (Гудфеллоу, 7.4). Задание А4.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опыта: три сети с одинаковыми начальными весами, по 100 эпох. Легкая аугментация: сдвиг на ±1 пиксель и отражение. Сильная: сдвиг на ±2, отражение, поворот на ±10° и стирание с вероятностью 0.5. На обычном тесте легкая аугментация подняла точность с 0.837 до 0.850. Сильная на обычном тесте не дала выигрыша (0.831), зато при сдвиге на 3 пикселя дает 0.77 вместо 0.53, при сдвиге на 4 – 0.64 вместо 0.41. Объясните, почему сильная не выиграла на обычном тесте: тестовые картинки FashionMNIST так же аккуратны, как обучающие, а сильная аугментация тратит часть возможностей сети на варианты, которых в этом тесте нет. Это компромисс: точность на «аккуратных» данных против устойчивости к реальным искажениям.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Поворот: сильная аугментация училась на поворотах до 10°, и при повороте на 10° держит 0.81, на 20° – 0.67 вместо 0.42. На 30° не помогает уже ни одна сеть (около 0.34): такого она не видела. Вывод: аугментация дает устойчивость в тех пределах, которые в нее заложены. Справа два признака регуляризации, как в Б2.3. Потеря на валидации к сотой эпохе: без аугментации выросла до 1.07, сеть стала самоуверенной; с сильной аугментацией 0.49. Точность на обучающей выборке: 1.00 без аугментации и 0.93 с сильной – зубрить меняющиеся картинки труднее.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Опыт из задания А5: к легкой аугментации добавили переворот вверх ногами с вероятностью 0.5. Точность на тесте упала с 0.850 до 0.813. Посмотрите по классам: сильнее всего пострадали пальто (0.86 → 0.61) и рубашка (0.57 → 0.45), а пуловер, наоборот, вырос. Объяснение: пальто, рубашку и пуловер сеть различает во многом по воротнику и застежке, которые находятся сверху. Если половину обучающих картинок перевернуть, этот признак перестает работать, и сеть начинает путать эти классы. Переворот не изменил название вещи, но испортил полезную информацию. Вывод: «допустимое» значит не только «метка та же», но и «такие картинки бывают на самом деле».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Аугментация при проверке (Гудфеллоу, раздел 12.2.1): показать сети несколько вариантов одной тестовой картинки и усреднить вероятности. Простейший вариант – сама картинка и ее отражение. Таблица: у сетей, обученных с отражениями, это дает небольшой выигрыш (0.850 → 0.852, 0.831 → 0.834, 0.813 → 0.822). А у сети без аугментации точность падает с 0.837 до 0.778: она никогда не видела отраженной обуви (в FashionMNIST вся обувь смотрит носком влево), ошибается на отражениях, и усреднение с плохим ответом портит результат. Правило: при проверке используют только те преобразования, к которым сеть приучена. Цена – несколько проходов сети вместо одного. Задание А5.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метода, которые идут дальше, чем «преобразование, не меняющее класс». Mixup (Чжан и соавторы, 2018) смешивает две картинки и их метки с одним коэффициентом λ: например, 0.7 рубашки и 0.3 ботинка, цель – вероятности (0.7, 0.3). Получается полупрозрачная картинка, которой не бывает в жизни, но она учит сеть плавно менять ответ между классами и не быть уверенной на 100 %. Связь с Б2.3: это родственник сглаживания меток. CutMix (Юн и соавторы, 2019) вставляет в картинку прямоугольник из другой картинки и смешивает метки пропорционально площади – это стирание, которое не выбрасывает пиксели, а заменяет их полезными. Mixup своими руками – задание повышенной сложности.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Теме 2, где сети будут работать со звуком и последовательностями. Идея та же: менять то, что не влияет на ответ. Звук: сдвиг во времени, шум, громкость, небольшое растяжение по времени (Гудфеллоу упоминает аугментацию в распознавании речи). Спектрограмма – картинка «время × частота»; SpecAugment (Пак и соавторы, 2019) закрывает на ней случайные полосы частот и отрезки времени, то есть делает случайное стирание. Показания датчиков автомобиля (скорость, ускорение): шум, масштаб, сдвиг окна. Спросите: «Можно ли для распознавания команды "вперед" проигрывать звук задом наперед?» (нет: это другое слово).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05. Практическая работа №2, часть 4А. Ученики напишут все преобразования со слайдов на тензорах, сверят их с torchvision, соберут конвейер и сами получат графики устойчивости.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Покажите, как это делается в обычном проекте. Преобразования собирают в transforms.Compose и передают набору данных параметром transform= только для обучающей выборки; у тестовой – только ToTensor. RandomAffine задает поворот и сдвиг (сдвиг – доля размера картинки, 2/28 – это 2 пикселя), RandomHorizontalFlip – отражение, RandomErasing работает с тензором, поэтому стоит после ToTensor. Преобразования считаются при каждой выдаче картинки, то есть на лету. В практике мы пишем те же преобразования сами и применяем их сразу к пакету, чтобы понять, что внутри.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плану. А1: shift и hflip, сверка с torchvision, обучение сети без аугментации и проверка на сдвинутом тесте. А2 (главное): rotation_grid и rotate через F.grid_sample, сверка с TF.rotate, проверка сети на повернутом тесте. А3: яркость, контраст, стирание и размер прямоугольника. А4 (главное): класс Augment, обучение с легкой и сильной аугментацией, графики устойчивости. А5: vflip, обучение с переворотом вверх ногами и функция tta_predict. Правило части: в А1–А3 только тензоры и F.grid_sample, torchvision – для сверки. В ноутбуке четыре обучения по 100 эпох, каждое на процессоре 1–3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Подведите итог по шести пунктам. Новые примеры делают из старых: (T(x), y), если T не меняет ответ. Свертка устойчива к сдвигу примерно на пиксель, но не к сдвигу на 3–4 пикселя, повороту и яркости. Поворот считают обратным ходом с билинейной интерполяцией. Яркость, контраст и стирание меняют значения пикселей. Аугментацию применяют на лету и только к обучающей выборке. Допустимость зависит от задачи: 6 и 9, лево и право, вверх ногами. Анонсируйте следующее занятие: трансферное обучение. Вместо того чтобы размножать 1000 картинок, возьмем сеть, которая уже видела миллион картинок ImageNet, и научим ее нашей задаче.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4/img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10 КЛАСС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Аугментация данных: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больше картинок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тех же 1000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3611880"/>
            <a:ext cx="457200" cy="402336"/>
          </a:xfrm>
          <a:prstGeom prst="hexagon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611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школа «УникУм», КузГТУ им. Т. Ф. Горбачева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4/img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1078992"/>
            <a:ext cx="566928" cy="502920"/>
          </a:xfrm>
          <a:prstGeom prst="hexagon">
            <a:avLst/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754880" y="107899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7373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«Сверточная сеть узнает 84 % вещей. Сдвиньте картинки на 3 пикселя, и останется 53 %. Почему сеть не узнает ту же самую рубашку?»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3383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обучена на 1000 картинках FashionMNIST, где каждая вещь аккуратно отцентрована. Слева одна и та же рубашка и точность сети на всей тестовой выборке.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4/img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нужна аугментация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данных без новой разметки и устойчивость, которой нет у свертки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ПОПОЛНЕНИЕ НАБОРА ДАННЫХ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Новые примеры из старых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429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(x, y) </a:t>
            </a:r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(T(x), y)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777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не меняет правильный ответ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2331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Лучший способ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73736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«Самый лучший способ повысить обобщающую способность модели – обучить ее на большем объеме данных». Разметка дорога, но для классификации новые примеры можно сделать из старых.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Гудфеллоу, раздел 7.4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Преобразование 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14996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сдвиг, отражение, поворот, яркость, стирание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1984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Метка та же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2768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сдвинутая рубашка остается рубашкой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Сеть узнает инвариантность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30540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этих изменений ответ зависеть не должен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658368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877056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8770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74904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Термин: </a:t>
            </a:r>
            <a:pPr indent="0" marL="0">
              <a:buNone/>
            </a:pPr>
            <a:r>
              <a:rPr lang="en-US" sz="10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по-английски data augmentation, у Гудфеллоу – пополнение набора данных. Это регуляризация: она мешает зубрить конкретные картинки.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СЕТЬ УМЕЕТ САМА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Свертка устойчива не ко всему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206240" cy="493776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197864"/>
            <a:ext cx="438912" cy="384048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19786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887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на 1 пиксель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1887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пулинг 2 × 2 сглаживает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28216"/>
            <a:ext cx="4206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83080"/>
            <a:ext cx="438912" cy="384048"/>
          </a:xfrm>
          <a:prstGeom prst="hexagon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178308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17739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на 3–4 пикселя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17739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полносвязный слой привязан к месту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313432"/>
            <a:ext cx="4206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368296"/>
            <a:ext cx="438912" cy="384048"/>
          </a:xfrm>
          <a:prstGeom prst="hexagon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36829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3591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235915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свертки не поворачиваются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898648"/>
            <a:ext cx="4206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2953512"/>
            <a:ext cx="438912" cy="384048"/>
          </a:xfrm>
          <a:prstGeom prst="hexagon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295351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29443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834640" y="294436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вещь крупнее – другие признаки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83864"/>
            <a:ext cx="4206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3538728"/>
            <a:ext cx="438912" cy="384048"/>
          </a:xfrm>
          <a:prstGeom prst="hexagon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353872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352958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Яркость и контраст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834640" y="352958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 числа на входе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83480" y="1143000"/>
            <a:ext cx="3703320" cy="2871216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12080" y="12984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5212080" y="16002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Свертка эквивариантна к сдвигу: карта признаков сдвигается вместе с картинкой (Б1.3).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двух пулингов карта 7 × 7: сдвиг на 4 пикселя – это сдвиг на целую клетку, а полносвязный слой видит совсем другой вход.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FashionMNIST отцентрован: сдвинутых и повернутых вещей сеть не видела.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Гудфеллоу (7.4): сдвиг на несколько пикселей заметно помогает даже сверточным сетям, хотя в них уже есть частичная инвариантность.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ОПЫТ: СЕТЬ БЕЗ АУГМЕНТАЦИИ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Сдвиг и поворот ломают сеть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5156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572000" y="105156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8368" y="4256532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8368" y="42565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42062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на 3 пикселя и поворот на 20° для человека мелочь, </a:t>
            </a:r>
            <a:pPr indent="0" marL="0">
              <a:buNone/>
            </a:pPr>
            <a:r>
              <a:rPr lang="en-US" sz="10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сеть теряет от трети до половины точности. WideCNN, 1000 картинок, 100 эпох.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4/img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Геометрия на тензорах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Сдвиг, отражение, поворот и билинейная интерполяция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Сдвиг и отражение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ИСХОДНАЯ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1371600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35024" y="1371600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35024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810512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1810512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35024" y="1810512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35024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249424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6112" y="2249424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35024" y="2249424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35024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874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= 1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1097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ВПРАВО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377440" y="1371600"/>
            <a:ext cx="438912" cy="438912"/>
          </a:xfrm>
          <a:prstGeom prst="rect">
            <a:avLst/>
          </a:prstGeom>
          <a:solidFill>
            <a:srgbClr val="4C9B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7744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816352" y="1371600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16352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55264" y="1371600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55264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377440" y="1810512"/>
            <a:ext cx="438912" cy="438912"/>
          </a:xfrm>
          <a:prstGeom prst="rect">
            <a:avLst/>
          </a:prstGeom>
          <a:solidFill>
            <a:srgbClr val="4C9B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377440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816352" y="1810512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816352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55264" y="1810512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55264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377440" y="2249424"/>
            <a:ext cx="438912" cy="438912"/>
          </a:xfrm>
          <a:prstGeom prst="rect">
            <a:avLst/>
          </a:prstGeom>
          <a:solidFill>
            <a:srgbClr val="4C9B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377440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816352" y="2249424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16352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55264" y="2249424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255264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931920" y="10972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ВВЕРХ, dy = −1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931920" y="1371600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93192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370832" y="1371600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370832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809744" y="1371600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809744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931920" y="1810512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931920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370832" y="1810512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370832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809744" y="1810512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809744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931920" y="2249424"/>
            <a:ext cx="438912" cy="438912"/>
          </a:xfrm>
          <a:prstGeom prst="rect">
            <a:avLst/>
          </a:prstGeom>
          <a:solidFill>
            <a:srgbClr val="4C9B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931920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370832" y="2249424"/>
            <a:ext cx="438912" cy="438912"/>
          </a:xfrm>
          <a:prstGeom prst="rect">
            <a:avLst/>
          </a:prstGeom>
          <a:solidFill>
            <a:srgbClr val="4C9B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370832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809744" y="2249424"/>
            <a:ext cx="438912" cy="438912"/>
          </a:xfrm>
          <a:prstGeom prst="rect">
            <a:avLst/>
          </a:prstGeom>
          <a:solidFill>
            <a:srgbClr val="4C9B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809744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486400" y="1097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ОТРАЖЕНИЕ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5486400" y="1371600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48640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925312" y="1371600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925312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364224" y="1371600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364224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486400" y="1810512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486400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925312" y="1810512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925312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364224" y="1810512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364224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5486400" y="2249424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486400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5925312" y="2249424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925312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6364224" y="2249424"/>
            <a:ext cx="438912" cy="43891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6364224" y="2249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7086600" y="1097280"/>
            <a:ext cx="1600200" cy="16002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223760" y="1234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y[i, j]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x[i − dy, j − dx]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img.flip(−1)</a:t>
            </a:r>
            <a:endParaRPr lang="en-US" sz="1100" dirty="0"/>
          </a:p>
        </p:txBody>
      </p:sp>
      <p:pic>
        <p:nvPicPr>
          <p:cNvPr id="86" name="Image 0" descr="/home/claude/work/b24/img/strip_g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0"/>
            <a:ext cx="2194560" cy="1856935"/>
          </a:xfrm>
          <a:prstGeom prst="rect">
            <a:avLst/>
          </a:prstGeom>
        </p:spPr>
      </p:pic>
      <p:sp>
        <p:nvSpPr>
          <p:cNvPr id="87" name="Text 84"/>
          <p:cNvSpPr txBox="1"/>
          <p:nvPr/>
        </p:nvSpPr>
        <p:spPr>
          <a:xfrm>
            <a:off x="301752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8" name="Text 85"/>
          <p:cNvSpPr txBox="1"/>
          <p:nvPr/>
        </p:nvSpPr>
        <p:spPr>
          <a:xfrm>
            <a:off x="3520440" y="2944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Пустое место – нулем</a:t>
            </a:r>
            <a:endParaRPr lang="en-US" sz="1100" dirty="0"/>
          </a:p>
        </p:txBody>
      </p:sp>
      <p:sp>
        <p:nvSpPr>
          <p:cNvPr id="89" name="Text 86"/>
          <p:cNvSpPr txBox="1"/>
          <p:nvPr/>
        </p:nvSpPr>
        <p:spPr>
          <a:xfrm>
            <a:off x="3520440" y="32369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 черный; torch.roll приклеил бы кусок с другого края</a:t>
            </a:r>
            <a:endParaRPr lang="en-US" sz="900" dirty="0"/>
          </a:p>
        </p:txBody>
      </p:sp>
      <p:sp>
        <p:nvSpPr>
          <p:cNvPr id="90" name="Text 87"/>
          <p:cNvSpPr txBox="1"/>
          <p:nvPr/>
        </p:nvSpPr>
        <p:spPr>
          <a:xfrm>
            <a:off x="3017520" y="3703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91" name="Text 88"/>
          <p:cNvSpPr txBox="1"/>
          <p:nvPr/>
        </p:nvSpPr>
        <p:spPr>
          <a:xfrm>
            <a:off x="3520440" y="3721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– задание А1</a:t>
            </a:r>
            <a:endParaRPr lang="en-US" sz="1100" dirty="0"/>
          </a:p>
        </p:txBody>
      </p:sp>
      <p:sp>
        <p:nvSpPr>
          <p:cNvPr id="92" name="Text 89"/>
          <p:cNvSpPr txBox="1"/>
          <p:nvPr/>
        </p:nvSpPr>
        <p:spPr>
          <a:xfrm>
            <a:off x="3520440" y="40142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и hflip совпадают с TF.affine и TF.hflip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результата к источнику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429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r" indent="0" marL="0">
              <a:buNone/>
            </a:pPr>
            <a:r>
              <a:rPr lang="en-US" sz="1400" b="1" baseline="-4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</a:t>
            </a:r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x·cos θ − y·sin θ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777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y(ист) = x·sin θ + y·cos θ; отсчет от центра, y вниз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80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 НА 90° ПРОТИВ ЧАСОВОЙ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43000" y="1645920"/>
            <a:ext cx="457200" cy="457200"/>
          </a:xfrm>
          <a:prstGeom prst="rect">
            <a:avLst/>
          </a:prstGeom>
          <a:solidFill>
            <a:srgbClr val="4C9B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00200" y="16459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00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43000" y="21031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600200" y="21031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00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25603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43000" y="25603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430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600200" y="25603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00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1488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0" y="16459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43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00400" y="16459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00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0" y="16459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576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0" y="2103120"/>
            <a:ext cx="457200" cy="457200"/>
          </a:xfrm>
          <a:prstGeom prst="rect">
            <a:avLst/>
          </a:prstGeom>
          <a:solidFill>
            <a:srgbClr val="4C9B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743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00400" y="21031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00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0" y="21031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576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743200" y="25603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43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00400" y="25603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2004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657600" y="2560320"/>
            <a:ext cx="457200" cy="45720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576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85800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пиксель результата (−1, 0) берет значение из (0, −1): верх ушел влево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475488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5257800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Обратное отображение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257800" y="14996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пикселя результата – точка-источник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75488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5257800" y="1984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дыр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5257800" y="22768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перенос оставил бы пустые и двойные пиксели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475488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5257800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 (13.5, 13.5)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257800" y="30540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j − (W − 1)/2, y = i − (H − 1)/2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 угла как в torchvision: θ &gt; 0 – против часовой стрелки. Проверка – задание А2.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Билинейная интерполяция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875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точка-источник между четырьмя пикселями: fx = 0.25, fy = 0.5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1051560" cy="1051560"/>
          </a:xfrm>
          <a:prstGeom prst="rect">
            <a:avLst/>
          </a:prstGeom>
          <a:solidFill>
            <a:srgbClr val="F3F5F8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 = 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1417320"/>
            <a:ext cx="1051560" cy="1051560"/>
          </a:xfrm>
          <a:prstGeom prst="rect">
            <a:avLst/>
          </a:prstGeom>
          <a:solidFill>
            <a:srgbClr val="B9D7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37360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 =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468880"/>
            <a:ext cx="1051560" cy="105156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514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= 0.5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37360" y="2468880"/>
            <a:ext cx="1051560" cy="1051560"/>
          </a:xfrm>
          <a:prstGeom prst="rect">
            <a:avLst/>
          </a:prstGeom>
          <a:solidFill>
            <a:srgbClr val="B9D7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37360" y="2514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 = 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92174" y="2386584"/>
            <a:ext cx="164592" cy="164592"/>
          </a:xfrm>
          <a:prstGeom prst="ellipse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84198" y="23591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371600"/>
            <a:ext cx="2606040" cy="2331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47288" y="15544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СОСЕДЕЙ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3447288" y="1874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(1 − 0.25)(1 − 0.5) = 0.375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0.25·(1 − 0.5) = 0.125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(1 − 0.25)·0.5 = 0.375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0.25·0.5 = 0.125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47288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весов равна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1371600"/>
            <a:ext cx="2651760" cy="23317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36208" y="1554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· ЗНАЧЕНИЕ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6236208" y="1874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0.4375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236208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0.375·0 + 0.125·1 + 0.375·0.5 + 0.125·1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ближе пиксель, тем больше его вес. За краем картинки значение 0. Поэтому поворот на 17° слегка размывает картинку, а на 90° – нет.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ХРАНИТСЯ В КОДЕ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Сетка для grid_sample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480560" cy="27432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984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 ПАКЕТА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4160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x_src = x * cos - y * sin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y_src = x * sin + y * cos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x_src / (W / 2)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y_src / (H / 2)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torch.stack([u, v], dim=-1)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F.grid_sample(imgs, grid, mode='bilinear',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padding_mode='zeros', align_corners=False)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207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Нормированные координаты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49961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−1 (левый край) до +1 (правый край)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1984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Пиксель 0 из 28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2768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−13.5, u = −13.5/14 ≈ −0.964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 угол каждой картинке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0540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сетка формы (N, H, W, 2), один вызов на пакет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Совпадает с TF.rotate(..., InterpolationMode.BILINEAR) до округлений: torchvision строит ту же сетку.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4/img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Яркость, контраст и стирание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Преобразования значений пикселей и закрытые участки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ПИКСЕЛЕЙ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Яркость и контраст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06040" cy="23774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258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ЯРКОСТЬ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6459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clip(f·x, 0, 1)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0.6, f = 1.5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0.9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0.6, f = 2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черный фон остается черным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06040" cy="23774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3258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КОНТРАСТ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6459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clip(c·x + (1 − c)·m, 0, 1)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0.6, m = 0.2, c = 0.5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0.5·0.6 + 0.5·0.2 = 0.4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– среднее этой картинки; фон светлеет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23774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325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И ЦВЕТ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164592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clip(x + ε, 0, 1)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цветных: насыщенность, тон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(ColorJitter)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Крижевский и др., 2012: сдвиг цветов по главным компонентам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658368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877056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8770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74904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FashionMNIST </a:t>
            </a:r>
            <a:pPr indent="0" marL="0">
              <a:buNone/>
            </a:pPr>
            <a:r>
              <a:rPr lang="en-US" sz="10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яркость почти не нужна: все снято одинаково. Для камеры на улице – нужна: солнце, сумерки, встречные фары. Проверка – задание А3.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СЛУЧАЙНОЕ СТИРАНИЕ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Закрыть часть вещи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429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√(s·HW·r),  w = √(s·HW/r)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777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– доля площади, r – отношение сторон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71600"/>
            <a:ext cx="2103120" cy="21031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828800"/>
            <a:ext cx="676656" cy="676656"/>
          </a:xfrm>
          <a:prstGeom prst="rect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18288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× 9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4930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× 28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141732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0.1, r 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0.1·784 = 78.4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w = round(8.85) = 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0.1, r =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13, w = 6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Случайные размер и место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14996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от 0.02 до 0.2, r от 0.3 до 3.3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1984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Вещь частично закрыта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2768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не может опираться на один участок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Родственник прореживания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0540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выключаются соседние пиксели входа (Б2.3)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Чжун и др., 2017 (random erasing); близкий метод cutout – Деврис и Тейлор, 2017. В torchvision – RandomErasing.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ДОПУСТИМЫЕ ПРЕОБРАЗОВАНИЯ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можно, а что нельзя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Цифры и буквы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отражение и поворот на 180° нельзя: 6 и 9, b и 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Дорожные знаки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отражение превращает «налево» в «направо» – менять и метку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Светофор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цветовой тон менять нельзя: класс задан цветом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2651760" cy="12801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FashionMNIST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горизонтальное отражение можно, вверх ногами – лишнее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2560320"/>
            <a:ext cx="2651760" cy="128016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Сила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 на 10° правдоподобен, на 90° – нет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2560320"/>
            <a:ext cx="2651760" cy="128016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Медицина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 снимка часто можно, сдвиг цвета ткани – осторожно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151376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1513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690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</a:t>
            </a:r>
            <a:pPr indent="0" marL="0">
              <a:buNone/>
            </a:pPr>
            <a:r>
              <a:rPr lang="en-US" sz="10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преобразование допустимо, только если не меняет правильный ответ и похоже на то, что встретится в настоящих данных.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4/img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Аугментация в обучении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лету, только для обучающей выборки; опыт с легкой и сильной аугментацией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лету и только для обучения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88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50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1887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74520" y="1188720"/>
            <a:ext cx="1188720" cy="5486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74520" y="1188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±2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11887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1188720" cy="5486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1188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отражение 0.5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1887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188720" cy="5486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1188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 ±10°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11887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1188720" cy="5486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1188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стирание 0.5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118872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43800" y="1188720"/>
            <a:ext cx="1188720" cy="5486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1188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</a:t>
            </a:r>
            <a:endParaRPr lang="en-US" sz="950" dirty="0"/>
          </a:p>
        </p:txBody>
      </p:sp>
      <p:pic>
        <p:nvPicPr>
          <p:cNvPr id="23" name="Image 0" descr="/home/claude/work/b24/img/varia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8229600" cy="114300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57200" y="3154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60120" y="3172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Новые варианты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60120" y="34655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эпоха: 100 эпох = 100 версий картинки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246120" y="3154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3749040" y="3172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без изменений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749040" y="34655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и тест изображают настоящие данные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035040" y="3154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537960" y="3172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схема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4655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сравнении моделей, иначе неясно, что дало выигрыш (7.4)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ОПЫТ: 1000 КАРТИНОК, 100 ЭПОХ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Устойчивость к сдвигу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515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315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Легкая: сдвиг ±1 и отражение. Сильная: сдвиг ±2, отражение, поворот ±10°, стирание.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760720" y="1143000"/>
            <a:ext cx="292608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1252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0.837 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0.850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тест: легкая аугментация добавила 1.3 пункта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2221992"/>
            <a:ext cx="2926080" cy="94183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 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0.77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2770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на 3 пикселя: сильная аугментация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3300984"/>
            <a:ext cx="2926080" cy="941832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0" y="34107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0.831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3849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 на обычном тесте: не выше, чем без аугментации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ОПЫТ: 1000 КАРТИНОК, 100 ЭПОХ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Поворот и уверенность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515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143000"/>
            <a:ext cx="292608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1252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 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0.67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 на 20°: сильная аугментация (училась на ±10°)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2221992"/>
            <a:ext cx="2926080" cy="94183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0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1.07 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0.49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2770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на валидации к 100 эпохе: сеть не самоуверенна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60720" y="3300984"/>
            <a:ext cx="2926080" cy="941832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0" y="34107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 </a:t>
            </a:r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0.93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3849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обучающей: зубрить труднее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ОПЫТ: НЕДОПУСТИМАЯ АУГМЕНТАЦИЯ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Вверх ногами – хуже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5156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143000"/>
            <a:ext cx="256032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1252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0.850 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0.813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тесте после добавления переворота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26480" y="2221992"/>
            <a:ext cx="2560320" cy="94183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 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0.61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770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пальто: воротник и застежка сверху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26480" y="3300984"/>
            <a:ext cx="2560320" cy="941832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34107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 </a:t>
            </a:r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0.45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38496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рубашка: та же причина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 ПРИ ПРОВЕРКЕ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Спросить сеть дважды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429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½·(p(x) + p(отражение x))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777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Гудфеллоу, 12.2.1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43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ТЕСТЕ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371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отражением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4572000" cy="4572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аугментации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0.837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4572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легкая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4572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788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4572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легкая + вверх ногами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834640" y="3337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852160" y="1207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Несколько вариантов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14996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 картинка и ее отражение, вероятности усредняются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852160" y="2029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знакомые преобразования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852160" y="232257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без отражений на отражениях ошибается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34924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852160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 – время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852160" y="314553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прохода сети вместо одного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– задание А5: функция tta_predict.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СМЕШИВАНИЕ КАРТИНОК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Mixup и CutMix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429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x̃ = λ·x</a:t>
            </a:r>
            <a:pPr algn="r" indent="0" marL="0">
              <a:buNone/>
            </a:pPr>
            <a:r>
              <a:rPr lang="en-US" sz="1400" b="1" baseline="-4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(1 − λ)·x</a:t>
            </a:r>
            <a:pPr algn="r" indent="0" marL="0">
              <a:buNone/>
            </a:pPr>
            <a:r>
              <a:rPr lang="en-US" sz="1400" b="1" baseline="-4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777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так же для векторов вероятностей классов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77640" cy="23774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3258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· ЧЖАН И ДР., 2018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64592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0.7: 0.7·рубашка + 0.3·ботинок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(0.7 рубашка, 0.3 ботинок)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– из бета-распределения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017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сглаживание меток из Б2.3: уверенность на 100 % невозможна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3977640" cy="23774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10328" y="13258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CUTMIX · ЮН И ДР., 2019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164592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картинку вставлен прямоугольник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другой картинки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метки смешаны по площади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910328" y="3017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стирание, которое не выбрасывает пиксели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своими руками – задание повышенной сложности 1, CutMix – задание 2.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МОСТ К ТЕМЕ 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Звук и временные ряды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98448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Звук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40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во времени, шум, громкость, растяжение по времени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651760" cy="22860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298448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Спектрограмма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240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SpecAugment: закрыть полосы частот и отрезки времени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143000"/>
            <a:ext cx="2651760" cy="22860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298448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Датчики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240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скорость, ускорение: шум, масштаб, сдвиг окна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658368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831336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83133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70332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та же: </a:t>
            </a:r>
            <a:pPr indent="0" marL="0">
              <a:buNone/>
            </a:pPr>
            <a:r>
              <a:rPr lang="en-US" sz="10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 то, что не влияет на ответ. SpecAugment (Пак и др., 2019) – случайное стирание на картинке «время × частота».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4/img/se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аугментация своими руками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 №2, часть 4А: от сдвига до проверки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ВЫГЛЯДИТ В КОДЕ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Готовые преобразования torchvision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480560" cy="27432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984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ДЛЯ ОБУЧАЮЩЕЙ ВЫБОРКИ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4160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train_tf = transforms.Compose([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transforms.RandomAffine(degrees=10,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translate=(2/28, 2/28)),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transforms.RandomHorizontalFlip(),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transforms.ToTensor(),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transforms.RandomErasing(p=0.5)])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test_tf = transforms.ToTensor()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207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transform= у набора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49961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применяется при каждой выдаче картинки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1984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RandomErasing после ToTensor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2768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 тензором, а не с картинкой PIL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работе – свои функции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0540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сверка с torchvision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DataLoader(num_workers &gt; 0) аугментация почти бесплатна: следующие пакеты готовятся, пока сеть учится на текущем.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заданий – от сдвига до проверки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8016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2801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и отражение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562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· hflip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без аугментации на сдвинутом тесте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651760" cy="13258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28016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12801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8562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rotation_grid · rotate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главное: сетка и билинейная интерполяция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14300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28016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12801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Яркость, контраст, стирание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18562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adjust_brightness · erase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0.9, 0.4, прямоугольник 9 × 9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606040"/>
            <a:ext cx="2651760" cy="13258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74320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7432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аугментации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319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Augment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главное: легкая и сильная аугментация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260604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274320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83280" y="27432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А5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02336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и при проверке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383280" y="3319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vflip · tta_predict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338328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вверх ногами и два ответа сети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35040" y="2606040"/>
            <a:ext cx="2651760" cy="13258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274320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72200" y="27432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Повышенная сложность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172200" y="3319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mixup · CutMix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617220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 аугментации, временные ряды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А1–А3: только тензоры и F.grid_sample, torchvision – для сверки. Четыре обучения по 100 эпох, каждое 1–3 минуты.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Аугментация данных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161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Новые примеры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4721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(T(x), y), если T не меняет ответ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161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Свертка не всесильна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4721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3 пикселя и поворот 20° ломают сеть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121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Обратный ход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432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поворот: источник и билинейная интерполяция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121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Значения и стирание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432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яркость, контраст, закрытый прямоугольник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081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лету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392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обучающая выборка, тест без изменений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081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Допустимость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392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и 9, лево и право, вверх ногами</a:t>
            </a:r>
            <a:endParaRPr lang="en-US" sz="900" dirty="0"/>
          </a:p>
        </p:txBody>
      </p:sp>
      <p:pic>
        <p:nvPicPr>
          <p:cNvPr id="24" name="Image 0" descr="/home/claude/work/b24/img/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68680"/>
            <a:ext cx="2926080" cy="323697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Следующее занятие – трансферное обучение: сеть, которая уже видела миллион картинок.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Аугментация данных</dc:title>
  <dc:subject>PptxGenJS Presentation</dc:subject>
  <dc:creator>Инженерная школа «УникУм», КузГТУ</dc:creator>
  <cp:lastModifiedBy>Инженерная школа «УникУм», КузГТУ</cp:lastModifiedBy>
  <cp:revision>1</cp:revision>
  <dcterms:created xsi:type="dcterms:W3CDTF">2026-10-08T06:15:27Z</dcterms:created>
  <dcterms:modified xsi:type="dcterms:W3CDTF">2026-10-08T06:15:27Z</dcterms:modified>
</cp:coreProperties>
</file>